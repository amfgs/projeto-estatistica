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99538b3a2d4ddb" /><Relationship Type="http://schemas.openxmlformats.org/officeDocument/2006/relationships/extended-properties" Target="/docProps/app.xml" Id="R6a46ca2e775a40cd" /><Relationship Type="http://schemas.openxmlformats.org/officeDocument/2006/relationships/officeDocument" Target="/ppt/presentation.xml" Id="Rb7ea075826d7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f34137e0a49b7"/>
  </p:sldMasterIdLst>
  <p:notesMasterIdLst>
    <p:notesMasterId xmlns:r="http://schemas.openxmlformats.org/officeDocument/2006/relationships" r:id="R7fadeead6cc04cb4"/>
  </p:notesMasterIdLst>
  <p:sldIdLst>
    <p:sldId xmlns:r="http://schemas.openxmlformats.org/officeDocument/2006/relationships" id="256" r:id="R697bd4ffd8364995"/>
    <p:sldId xmlns:r="http://schemas.openxmlformats.org/officeDocument/2006/relationships" id="257" r:id="R071490065e0a4d1b"/>
    <p:sldId xmlns:r="http://schemas.openxmlformats.org/officeDocument/2006/relationships" id="258" r:id="Raad10230f67942c1"/>
    <p:sldId xmlns:r="http://schemas.openxmlformats.org/officeDocument/2006/relationships" id="259" r:id="R5c4d89531d8c4c54"/>
    <p:sldId xmlns:r="http://schemas.openxmlformats.org/officeDocument/2006/relationships" id="260" r:id="R961efc94294747f8"/>
    <p:sldId xmlns:r="http://schemas.openxmlformats.org/officeDocument/2006/relationships" id="261" r:id="R4fe631b781404304"/>
    <p:sldId xmlns:r="http://schemas.openxmlformats.org/officeDocument/2006/relationships" id="262" r:id="R7e932e1eda3644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a89393db24547" /><Relationship Type="http://schemas.openxmlformats.org/officeDocument/2006/relationships/slideMaster" Target="/ppt/slideMasters/slideMaster1.xml" Id="R15df34137e0a49b7" /><Relationship Type="http://schemas.openxmlformats.org/officeDocument/2006/relationships/notesMaster" Target="/ppt/notesMasters/notesMaster1.xml" Id="R7fadeead6cc04cb4" /><Relationship Type="http://schemas.openxmlformats.org/officeDocument/2006/relationships/presProps" Target="/ppt/presProps.xml" Id="Rdff87cdb0ae84a55" /><Relationship Type="http://schemas.openxmlformats.org/officeDocument/2006/relationships/tableStyles" Target="/ppt/tableStyles.xml" Id="Re9cf6a7c4ce2451c" /><Relationship Type="http://schemas.openxmlformats.org/officeDocument/2006/relationships/slide" Target="/ppt/slides/slide1.xml" Id="R697bd4ffd8364995" /><Relationship Type="http://schemas.openxmlformats.org/officeDocument/2006/relationships/slide" Target="/ppt/slides/slide2.xml" Id="R071490065e0a4d1b" /><Relationship Type="http://schemas.openxmlformats.org/officeDocument/2006/relationships/slide" Target="/ppt/slides/slide3.xml" Id="Raad10230f67942c1" /><Relationship Type="http://schemas.openxmlformats.org/officeDocument/2006/relationships/slide" Target="/ppt/slides/slide4.xml" Id="R5c4d89531d8c4c54" /><Relationship Type="http://schemas.openxmlformats.org/officeDocument/2006/relationships/slide" Target="/ppt/slides/slide5.xml" Id="R961efc94294747f8" /><Relationship Type="http://schemas.openxmlformats.org/officeDocument/2006/relationships/slide" Target="/ppt/slides/slide6.xml" Id="R4fe631b781404304" /><Relationship Type="http://schemas.openxmlformats.org/officeDocument/2006/relationships/slide" Target="/ppt/slides/slide7.xml" Id="R7e932e1eda36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d795b17fa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b5fd899db469e" /><Relationship Type="http://schemas.openxmlformats.org/officeDocument/2006/relationships/notesMaster" Target="/ppt/notesMasters/notesMaster1.xml" Id="R5f5b5b2210b6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6811657fb41fe" /><Relationship Type="http://schemas.openxmlformats.org/officeDocument/2006/relationships/notesMaster" Target="/ppt/notesMasters/notesMaster1.xml" Id="R9ca769435ff3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13a8fbc6cc404c" /><Relationship Type="http://schemas.openxmlformats.org/officeDocument/2006/relationships/notesMaster" Target="/ppt/notesMasters/notesMaster1.xml" Id="Ra5a05673f569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f1eb47b394ae9" /><Relationship Type="http://schemas.openxmlformats.org/officeDocument/2006/relationships/notesMaster" Target="/ppt/notesMasters/notesMaster1.xml" Id="R7e68d24e21e4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fdaa4789b546e0" /><Relationship Type="http://schemas.openxmlformats.org/officeDocument/2006/relationships/notesMaster" Target="/ppt/notesMasters/notesMaster1.xml" Id="R4b0c564cc5b744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36401e85a43af" /><Relationship Type="http://schemas.openxmlformats.org/officeDocument/2006/relationships/notesMaster" Target="/ppt/notesMasters/notesMaster1.xml" Id="R472f2ab1981c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852313e4824d2b" /><Relationship Type="http://schemas.openxmlformats.org/officeDocument/2006/relationships/notesMaster" Target="/ppt/notesMasters/notesMaster1.xml" Id="R881b80c0c8ae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dataset Football Data from Transfermarkt, disponibilizado no Kaggle. Resultados calculados no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competitions.csv e tabelas transfers.csv, games.csv e club_games.csv do dataset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etapas de pré-processamento e seção formal de outliers do notebook. HICP: Eurostat, PRC_HICP_AIND, área do euro, todos os itens.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da execução: investimento conhecido n=972; média 55,42 M€, mediana 28,55 M€, Q1 9,38 M€, Q3 76,02 M€, desvio padrão 71,15 M€. Valores em euros de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Pearson geral: investimento × pontos/jogo r=0,440, R²=0,193; × saldo/jogo r=0,440, R²=0,193; × posição final r=−0,391, R²=0,153. Teste sem os 59 outliers: r=0,464, 0,467 e −0,416, respectivamente.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P3: correlação entre desvio padrão do investimento e do desempenho, por liga-temporada, Pearson r=0,074 (p=0,6091) e Spearman r=0,144 (p=0,3174). Faixas: Q1 1,12 pontos/jogo e posição 13,40; Q4 1,71 pontos/jogo e posição 6,67.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 seção de conclusões do notebook. Recomenda-se apresentar a associação como evidência exploratória e discutir as limitações.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30a25626547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4398c3ddd4e51" /><Relationship Type="http://schemas.openxmlformats.org/officeDocument/2006/relationships/slideLayout" Target="/ppt/slideLayouts/slideLayout1.xml" Id="R3968fbbdaead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8fbbdaead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eddffe4de494b" /><Relationship Type="http://schemas.openxmlformats.org/officeDocument/2006/relationships/notesSlide" Target="/ppt/notesSlides/notesSlide1.xml" Id="R74aefc891efa4e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f1bca7b274a1f" /><Relationship Type="http://schemas.openxmlformats.org/officeDocument/2006/relationships/notesSlide" Target="/ppt/notesSlides/notesSlide2.xml" Id="R84135e232625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dc7c19004eb0" /><Relationship Type="http://schemas.openxmlformats.org/officeDocument/2006/relationships/notesSlide" Target="/ppt/notesSlides/notesSlide3.xml" Id="R26ba3c81f8bc4a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d9838b61949de" /><Relationship Type="http://schemas.openxmlformats.org/officeDocument/2006/relationships/chart" Target="/ppt/slides/charts/chart1.xml" Id="R2aad4af7eb404e8f" /><Relationship Type="http://schemas.openxmlformats.org/officeDocument/2006/relationships/notesSlide" Target="/ppt/notesSlides/notesSlide4.xml" Id="R49a49eaf25e645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aa771eac4398" /><Relationship Type="http://schemas.openxmlformats.org/officeDocument/2006/relationships/chart" Target="/ppt/slides/charts/chart2.xml" Id="R0f9fa8aa337648a6" /><Relationship Type="http://schemas.openxmlformats.org/officeDocument/2006/relationships/notesSlide" Target="/ppt/notesSlides/notesSlide5.xml" Id="R686c07120f3141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cc73f90cc4d20" /><Relationship Type="http://schemas.openxmlformats.org/officeDocument/2006/relationships/chart" Target="/ppt/slides/charts/chart3.xml" Id="R5985a8a973124818" /><Relationship Type="http://schemas.openxmlformats.org/officeDocument/2006/relationships/notesSlide" Target="/ppt/notesSlides/notesSlide6.xml" Id="R3d471447019e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f75283c114b24" /><Relationship Type="http://schemas.openxmlformats.org/officeDocument/2006/relationships/notesSlide" Target="/ppt/notesSlides/notesSlide7.xml" Id="R4a4388cdd7ef44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Milhões de euros</c:v>
          </c:tx>
          <c:spPr>
            <a:solidFill xmlns:a="http://schemas.openxmlformats.org/drawingml/2006/main">
              <a:srgbClr val="FFB000"/>
            </a:solidFill>
          </c:spPr>
          <c:cat>
            <c:strRef>
              <c:f>'Chart Data'!$A$2:$A$5</c:f>
              <c:strCache>
                <c:ptCount val="4"/>
                <c:pt idx="0">
                  <c:v>Mediana</c:v>
                </c:pt>
                <c:pt idx="1">
                  <c:v>Média</c:v>
                </c:pt>
                <c:pt idx="2">
                  <c:v>Q3</c:v>
                </c:pt>
                <c:pt idx="3">
                  <c:v>Desvio padrão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28.55</c:v>
                </c:pt>
                <c:pt idx="1">
                  <c:v>55.42</c:v>
                </c:pt>
                <c:pt idx="2">
                  <c:v>76.02</c:v>
                </c:pt>
                <c:pt idx="3">
                  <c:v>71.15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 de Pearson</c:v>
          </c:tx>
          <c:spPr>
            <a:solidFill xmlns:a="http://schemas.openxmlformats.org/drawingml/2006/main">
              <a:srgbClr val="25C4B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Pontos/jogo</c:v>
                </c:pt>
                <c:pt idx="1">
                  <c:v>Saldo/jogo</c:v>
                </c:pt>
                <c:pt idx="2">
                  <c:v>Posição final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0.44</c:v>
                </c:pt>
                <c:pt idx="1">
                  <c:v>0.44</c:v>
                </c:pt>
                <c:pt idx="2">
                  <c:v>-0.391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M€</c:v>
          </c:tx>
          <c:spPr>
            <a:solidFill xmlns:a="http://schemas.openxmlformats.org/drawingml/2006/main">
              <a:srgbClr val="65A9FF"/>
            </a:solidFill>
          </c:spPr>
          <c:cat>
            <c:strRef>
              <c:f>'Chart Data'!$A$2:$A$3</c:f>
              <c:strCache>
                <c:ptCount val="2"/>
                <c:pt idx="0">
                  <c:v>Premier League</c:v>
                </c:pt>
                <c:pt idx="1">
                  <c:v>Ligue 1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85.221</c:v>
                </c:pt>
                <c:pt idx="1">
                  <c:v>52.088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2DFF8-9E46-40B8-8947-253ADCA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95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DINHEIRO EM CAMPO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A3AE7-DF39-4239-AE74-52A9A63E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Investimento em transferências</a:t>
            </a:r>
          </a:p>
          <a:p xmlns:a="http://schemas.openxmlformats.org/drawingml/2006/main">
            <a:pPr>
              <a:defRPr sz="37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e desempenho esportivo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E1B89-E085-41B6-9AA6-ED37CF94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Uma análise exploratória nas cinco grandes ligas europeias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712DE-1577-47C6-B028-4806394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Base clube-temporada • dados Transfermarkt/Kaggle • 10 temporadas completas</a:t>
            </a:r>
          </a:p>
        </p:txBody>
      </p:sp>
    </p:spTree>
    <p:extLst>
      <p:ext uri="{BB962C8B-B14F-4D97-AF65-F5344CB8AC3E}">
        <p14:creationId xmlns:p14="http://schemas.microsoft.com/office/powerpoint/2010/main" val="1871254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0E678-5DA8-4BF2-AA76-E38BABE7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C9560-7B8C-4633-B16F-0FF1B70B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Problema e base analítica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B4E7E-CD1A-4109-B6E5-231EC5EF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4DAA-C80F-4ACA-B491-A9AC619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Pergunta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C4C6-7649-409F-B1BC-36EABDB4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Quanto o gasto em contratações se relaciona ao desempenho esportivo?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92CFE-1247-4F40-945C-234C06E3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Unidade de análise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4CB71-C0C9-44B5-99E6-88E758E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1 clube × 1 temporada × 1 liga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01054-AC07-4784-882A-EE5B4A8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57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974 linhas na base final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972 clube-temporadas com investimento conhecido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5 ligas e 10 temporadas completas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Premier League, La Liga, Serie A, Bundesliga e Ligue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28D0-72E9-4A44-8937-050DA69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A seleção das cinco ligas combina maior volume financeiro e a cobertura histórica mais completa do dataset. Os IDs são confirmados em competitions.csv.</a:t>
            </a:r>
          </a:p>
        </p:txBody>
      </p:sp>
    </p:spTree>
    <p:extLst>
      <p:ext uri="{BB962C8B-B14F-4D97-AF65-F5344CB8AC3E}">
        <p14:creationId xmlns:p14="http://schemas.microsoft.com/office/powerpoint/2010/main" val="1666028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3EDC2-DF96-47E9-A905-1CD1291B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MÉTODO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980C-5A35-48FC-ADBF-AA4FFFD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Pré-processamento e desenho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03D7C-1821-4F42-9BED-9E00571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904C5-AEDF-42CE-8227-4BE25A5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Integração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B260C-3F7E-4EB3-BDC4-A77324F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O merge usa club_id + season_start_year. A chave foi verificada e não há duplicatas.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73862-6185-4C1E-AE68-602D5C4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Tratamentos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B1367-5945-4576-97D9-1783A7D2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Tipos numéricos e datas convertidos</a:t>
            </a:r>
          </a:p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Nulos e taxas de tarifas não divulgadas documentados</a:t>
            </a:r>
          </a:p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2019 excluída por não formar temporada completa nas cinco ligas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9E848-5DCD-4490-A4E0-F468E43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5A9FF"/>
                </a:solidFill>
                <a:latin typeface="Helvetica Neue"/>
                <a:ea typeface="Helvetica Neue"/>
                <a:cs typeface="Helvetica Neue"/>
              </a:rPr>
              <a:t>Valores financeiros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BD382-BE40-4E80-8FF0-6D6F0DB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Investimentos nominais foram preservados e corrigidos para euros de 2025 pelo HICP anual da área do euro.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3DCC3-E519-4CCB-B2AD-3C9EE875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Outliers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D26CB-DA7B-4CCB-B948-31633226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Regra IQR (1,5×): 59 de 972 observações (6,1%) acima de €175,98 milhões. Foram mantidos porque representam transferências reais.</a:t>
            </a:r>
          </a:p>
        </p:txBody>
      </p:sp>
    </p:spTree>
    <p:extLst>
      <p:ext uri="{BB962C8B-B14F-4D97-AF65-F5344CB8AC3E}">
        <p14:creationId xmlns:p14="http://schemas.microsoft.com/office/powerpoint/2010/main" val="1860848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E9E02-359F-4AF2-A947-98BDD3A7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PERGUNTA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AFBBF-66CF-4F83-9FFD-747D9C92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O investimento é concentrado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4ECE7-26D3-422D-B1E7-CE70EB40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E5690-C407-46D7-AD66-2C01CC7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Distribuição do investimento por clube-temporada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ad4af7eb404e8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8BB1E-972C-4351-B6E6-F099849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Média quase 2× a mediana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FFCB0-9A14-46AE-BA19-5F4E1254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93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55,42 M€ vs. 28,55 M€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Poucos clubes concentram valores muito altos. O número de contratações é mais homogêneo: média 14,55 e mediana 13.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9BB0F-1625-48D4-AC4B-93621EB3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Hipótese 1: confirmada</a:t>
            </a:r>
          </a:p>
        </p:txBody>
      </p:sp>
    </p:spTree>
    <p:extLst>
      <p:ext uri="{BB962C8B-B14F-4D97-AF65-F5344CB8AC3E}">
        <p14:creationId xmlns:p14="http://schemas.microsoft.com/office/powerpoint/2010/main" val="71772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25FDD-7396-437E-8621-42FF2B9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PERGUNTA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EB410-0D96-4A29-BB2C-9A2479A2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Mais investimento se associa a melhor desempenho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265D3-7CAC-466F-A8BD-4E16B229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E72DF-A50A-4E6C-83E3-BF050B8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Pearson (base completa, n = 972)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fa8aa337648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5D251-0AB4-4230-AAB6-3C74753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R² exato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9A6C8-CAC3-4B75-A9A0-EBB3E41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19,3%  pontos</a:t>
            </a:r>
          </a:p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19,3%  saldo</a:t>
            </a:r>
          </a:p>
          <a:p xmlns:a="http://schemas.openxmlformats.org/drawingml/2006/main">
            <a:pPr>
              <a:def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15,3%  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AB85D-7EDA-47DC-9D14-6DC979B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Robustez sem outliers: r = 0,464 / 0,467 / −0,416; os sinais e a magnitude se mantêm.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F0900-E0F2-441D-98C0-1369037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Associação, não causalidade</a:t>
            </a:r>
          </a:p>
        </p:txBody>
      </p:sp>
    </p:spTree>
    <p:extLst>
      <p:ext uri="{BB962C8B-B14F-4D97-AF65-F5344CB8AC3E}">
        <p14:creationId xmlns:p14="http://schemas.microsoft.com/office/powerpoint/2010/main" val="669731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DD657-3DD4-4339-9C23-BB3A5D3A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PERGUNTA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EB93B-5B50-491E-A663-6B57D04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Desigualdade financeira não explica a desigualdade esportiva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7018A-C867-45B4-93D2-F6F9B970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FE002-69C4-455A-A889-29E3243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Desvio padrão médio do investimento (M€)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85a8a9731248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4A94A-2806-429E-B667-7A84984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Pearson = 0,074</a:t>
            </a:r>
          </a:p>
          <a:p xmlns:a="http://schemas.openxmlformats.org/drawingml/2006/main">
            <a:pPr>
              <a:def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p = 0,609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53A0-25D4-4E04-ACCF-3B620AA6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A Premier League tem a maior dispersão financeira, mas a dispersão de desempenho é semelhante à das demais ligas (0,445–0,500).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11D29-1B5D-436A-8385-EDF6AFC9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67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Faixas de investimento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9262-2AB6-4D22-943D-85118D31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Q1 → 1,12 pontos/jogo</a:t>
            </a:r>
          </a:p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Q4 → 1,71 pontos/jogo</a:t>
            </a:r>
          </a:p>
          <a:p xmlns:a="http://schemas.openxmlformats.org/drawingml/2006/main">
            <a:pPr>
              <a:def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posição média: 13,40 → 6,67</a:t>
            </a:r>
          </a:p>
        </p:txBody>
      </p:sp>
    </p:spTree>
    <p:extLst>
      <p:ext uri="{BB962C8B-B14F-4D97-AF65-F5344CB8AC3E}">
        <p14:creationId xmlns:p14="http://schemas.microsoft.com/office/powerpoint/2010/main" val="759672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8EF95-AFA2-40CA-B8CF-F608575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SÍNTESE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7E786-17F1-414E-A377-5E1B0B3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Conclusões e limites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6B009-214B-4B9B-90DD-E2AD62D0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5C6"/>
                </a:solidFill>
                <a:latin typeface="Helvetica Neue"/>
                <a:ea typeface="Helvetica Neue"/>
                <a:cs typeface="Helvetica Neue"/>
              </a:rPr>
              <a:t>Projeto de Estatística • 2015–2025 • euros de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C4986-209C-48A4-AAAB-765C164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Hipóteses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F60CF-01D7-40A1-9EE9-CB5E2BE2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H1  confirmada: investimento concentrado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H2  parcialmente confirmada: associação moderada, não determinística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H3  não sustentada: desigualdade financeira entre ligas não acompanha a esportiva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3CC14-1DA8-4470-AEDF-172C3E6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C4B6"/>
                </a:solidFill>
                <a:latin typeface="Helvetica Neue"/>
                <a:ea typeface="Helvetica Neue"/>
                <a:cs typeface="Helvetica Neue"/>
              </a:rPr>
              <a:t>O que os dados mostram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9D36D-32A6-440B-90F5-82EAA81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Clubes que gastam mais tendem a pontuar mais e terminar melhor, mas dinheiro explica apenas uma parte do desempenho.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CF93-DE0A-42E0-8424-A92EBBAD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A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5A9FF"/>
                </a:solidFill>
                <a:latin typeface="Helvetica Neue"/>
                <a:ea typeface="Helvetica Neue"/>
                <a:cs typeface="Helvetica Neue"/>
              </a:rPr>
              <a:t>Limitações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FB091-D889-4A4B-8301-3E975FE4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050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Tarifas não divulgadas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HICP é um ajuste macroeconômico, não um índice específico do futebol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Correlação não implica causalidade</a:t>
            </a:r>
          </a:p>
          <a:p xmlns:a="http://schemas.openxmlformats.org/drawingml/2006/main">
            <a:pPr>
              <a:def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A"/>
                </a:solidFill>
                <a:latin typeface="Helvetica Neue"/>
                <a:ea typeface="Helvetica Neue"/>
                <a:cs typeface="Helvetica Neue"/>
              </a:rPr>
              <a:t>• 2019 ficou fora por falta de completude simultânea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FC551-7592-4711-A80B-F5433FA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Defesa oral: cada integrante domina uma pergunta</a:t>
            </a:r>
          </a:p>
        </p:txBody>
      </p:sp>
    </p:spTree>
    <p:extLst>
      <p:ext uri="{BB962C8B-B14F-4D97-AF65-F5344CB8AC3E}">
        <p14:creationId xmlns:p14="http://schemas.microsoft.com/office/powerpoint/2010/main" val="1332020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2026-09-15T13:47:07.5450000Z</dcterms:created>
  <dcterms:modified xsi:type="dcterms:W3CDTF">2026-09-15T13:47:07.5450000Z</dcterms:modified>
</coreProperties>
</file>